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4" r:id="rId1"/>
  </p:sldMasterIdLst>
  <p:sldIdLst>
    <p:sldId id="256" r:id="rId2"/>
    <p:sldId id="27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ABB1293E-51F4-40D4-B2E2-A8B776A650D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8F0BF492-EF9E-470C-9CA8-C706F7296A2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2974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1293E-51F4-40D4-B2E2-A8B776A650D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F492-EF9E-470C-9CA8-C706F7296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43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1293E-51F4-40D4-B2E2-A8B776A650D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F492-EF9E-470C-9CA8-C706F7296A2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4406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1293E-51F4-40D4-B2E2-A8B776A650D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F492-EF9E-470C-9CA8-C706F7296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180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1293E-51F4-40D4-B2E2-A8B776A650D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F492-EF9E-470C-9CA8-C706F7296A27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9909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1293E-51F4-40D4-B2E2-A8B776A650D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F492-EF9E-470C-9CA8-C706F7296A2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0974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1293E-51F4-40D4-B2E2-A8B776A650D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F492-EF9E-470C-9CA8-C706F7296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9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1293E-51F4-40D4-B2E2-A8B776A650D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F492-EF9E-470C-9CA8-C706F7296A2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157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1293E-51F4-40D4-B2E2-A8B776A650D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F492-EF9E-470C-9CA8-C706F7296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124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1293E-51F4-40D4-B2E2-A8B776A650D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F492-EF9E-470C-9CA8-C706F7296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270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1293E-51F4-40D4-B2E2-A8B776A650D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F492-EF9E-470C-9CA8-C706F7296A2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93594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1293E-51F4-40D4-B2E2-A8B776A650D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F492-EF9E-470C-9CA8-C706F7296A2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96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1293E-51F4-40D4-B2E2-A8B776A650D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F492-EF9E-470C-9CA8-C706F7296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1519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1293E-51F4-40D4-B2E2-A8B776A650D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F492-EF9E-470C-9CA8-C706F7296A2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6882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1293E-51F4-40D4-B2E2-A8B776A650D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F492-EF9E-470C-9CA8-C706F7296A2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35756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1293E-51F4-40D4-B2E2-A8B776A650D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F492-EF9E-470C-9CA8-C706F7296A2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1221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1293E-51F4-40D4-B2E2-A8B776A650D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F492-EF9E-470C-9CA8-C706F7296A2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2351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BB1293E-51F4-40D4-B2E2-A8B776A650D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F0BF492-EF9E-470C-9CA8-C706F7296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47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  <p:sldLayoutId id="2147483796" r:id="rId12"/>
    <p:sldLayoutId id="2147483797" r:id="rId13"/>
    <p:sldLayoutId id="2147483798" r:id="rId14"/>
    <p:sldLayoutId id="2147483799" r:id="rId15"/>
    <p:sldLayoutId id="2147483800" r:id="rId16"/>
    <p:sldLayoutId id="214748380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ADA38-4992-41DE-BF82-9D1C05C9BC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2808" y="1871131"/>
            <a:ext cx="7365532" cy="1515533"/>
          </a:xfrm>
        </p:spPr>
        <p:txBody>
          <a:bodyPr/>
          <a:lstStyle/>
          <a:p>
            <a:r>
              <a:rPr lang="en-US" dirty="0"/>
              <a:t>Med </a:t>
            </a:r>
            <a:r>
              <a:rPr lang="en-US" dirty="0" err="1"/>
              <a:t>itech</a:t>
            </a:r>
            <a:r>
              <a:rPr lang="en-US" dirty="0"/>
              <a:t> HealthCare 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9B91BE-8795-4D74-A493-8F56F242F6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199" y="4882393"/>
            <a:ext cx="2483141" cy="469783"/>
          </a:xfrm>
        </p:spPr>
        <p:txBody>
          <a:bodyPr/>
          <a:lstStyle/>
          <a:p>
            <a:pPr algn="r"/>
            <a:r>
              <a:rPr lang="en-US" dirty="0"/>
              <a:t>Role – Data Analyst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991442-93A9-4B11-9B3C-089BD9696D0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9809" y="2153482"/>
            <a:ext cx="5211529" cy="365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180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E486D-0864-4F3E-984A-B36E1B3A1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About Med </a:t>
            </a:r>
            <a:r>
              <a:rPr lang="en-US" b="1" dirty="0" err="1"/>
              <a:t>itech</a:t>
            </a:r>
            <a:endParaRPr lang="en-US" b="1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3690A38-527F-4C44-B844-943F99EA05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73792" y="2595204"/>
            <a:ext cx="982280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Global healthcare IT company headquartered in Massachusetts, USA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Founded in 1969.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presence in world wide healthcare system.(Canada, UK, Asia, Australia, Africa and Europe)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Electronic Health Record (EHR)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Manages hospital clinical, financial, and operational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revenue cycle management and billing systems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32A7A9-E3D7-4755-9955-957FDCD5370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216" y="637681"/>
            <a:ext cx="2199881" cy="1677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590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BDFB9-CE93-49C1-9A2B-080C65257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4D2BB-6EFC-4C9E-9C93-049E5D6F3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a centralized healthcare data pipeline with </a:t>
            </a:r>
            <a:r>
              <a:rPr lang="en-US" b="1" dirty="0"/>
              <a:t>Delta Incremental Load</a:t>
            </a:r>
            <a:r>
              <a:rPr lang="en-US" dirty="0"/>
              <a:t> by using </a:t>
            </a:r>
            <a:r>
              <a:rPr lang="en-US" b="1" dirty="0"/>
              <a:t>Azure SQL database, Azure Data Factory and Power BI</a:t>
            </a:r>
            <a:r>
              <a:rPr lang="en-US" dirty="0"/>
              <a:t>.</a:t>
            </a:r>
          </a:p>
          <a:p>
            <a:r>
              <a:rPr lang="en-US" dirty="0"/>
              <a:t>Deliver business insights through </a:t>
            </a:r>
            <a:r>
              <a:rPr lang="en-US" b="1" dirty="0"/>
              <a:t>Power BI</a:t>
            </a:r>
            <a:r>
              <a:rPr lang="en-US" dirty="0"/>
              <a:t> dashboards.</a:t>
            </a:r>
          </a:p>
          <a:p>
            <a:r>
              <a:rPr lang="en-US" dirty="0"/>
              <a:t>Implement data security by using </a:t>
            </a:r>
            <a:r>
              <a:rPr lang="en-US" b="1" dirty="0"/>
              <a:t>Role-Based Access Control (RBAC)</a:t>
            </a:r>
            <a:r>
              <a:rPr lang="en-US" dirty="0"/>
              <a:t> and </a:t>
            </a:r>
            <a:r>
              <a:rPr lang="en-US" b="1" dirty="0"/>
              <a:t>Row-Level Security (RLS)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827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78F85-F330-44F2-92F7-D2CD9F84C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Architecture Overview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BCEAA8B-8326-4B12-BAFF-DF0C0241B4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635" y="2557463"/>
            <a:ext cx="8355436" cy="3317875"/>
          </a:xfrm>
        </p:spPr>
      </p:pic>
    </p:spTree>
    <p:extLst>
      <p:ext uri="{BB962C8B-B14F-4D97-AF65-F5344CB8AC3E}">
        <p14:creationId xmlns:p14="http://schemas.microsoft.com/office/powerpoint/2010/main" val="2778922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8FA7F-653B-40EF-A476-1ED4C6975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Team Members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4FBB27-2548-4E3F-922F-20F9FFA391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92571" y="2407111"/>
            <a:ext cx="5016617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are 12 team members :-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Manager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 Architect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Azure Data Engineer  (2)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Azure SQL Developer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 Developer(2)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 Analyst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Quality &amp; Testing Engineer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/ Platform Support Engineer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Scrum Master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Subject Matter Expert (part time)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C81667D7-67BE-4FD5-BD13-FE9C16DC0B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305764"/>
            <a:ext cx="327043" cy="275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767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152363B-8DDC-4CE4-B82F-7209446F94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3" y="796955"/>
            <a:ext cx="9484450" cy="5226340"/>
          </a:xfrm>
        </p:spPr>
      </p:pic>
    </p:spTree>
    <p:extLst>
      <p:ext uri="{BB962C8B-B14F-4D97-AF65-F5344CB8AC3E}">
        <p14:creationId xmlns:p14="http://schemas.microsoft.com/office/powerpoint/2010/main" val="1395642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ECB1F-BD87-4E55-AA61-380223F63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Situation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C882C-312C-43F0-9479-26DD5623C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Multiregional Healthcare organization was struggling to collect the data from different operational systems </a:t>
            </a:r>
            <a:r>
              <a:rPr lang="en-US" b="1" dirty="0"/>
              <a:t>(on cloud &amp; on –Prem) </a:t>
            </a:r>
            <a:r>
              <a:rPr lang="en-US" dirty="0"/>
              <a:t>include EHR, Billing system, HR system, PMS, Finance System in different formats.</a:t>
            </a:r>
          </a:p>
          <a:p>
            <a:r>
              <a:rPr lang="en-US" b="1" dirty="0"/>
              <a:t>No centralized data warehouse.</a:t>
            </a:r>
          </a:p>
          <a:p>
            <a:r>
              <a:rPr lang="en-US" b="1" dirty="0"/>
              <a:t>No  delta incremental load mechanism.</a:t>
            </a:r>
          </a:p>
          <a:p>
            <a:r>
              <a:rPr lang="en-US" dirty="0"/>
              <a:t>Performance issue due to </a:t>
            </a:r>
            <a:r>
              <a:rPr lang="en-US" b="1" dirty="0"/>
              <a:t>full load</a:t>
            </a:r>
            <a:r>
              <a:rPr lang="en-US" dirty="0"/>
              <a:t>.</a:t>
            </a:r>
            <a:endParaRPr lang="en-US" b="1" dirty="0"/>
          </a:p>
          <a:p>
            <a:r>
              <a:rPr lang="en-US" dirty="0"/>
              <a:t>Mostly reporting process was </a:t>
            </a:r>
            <a:r>
              <a:rPr lang="en-US" b="1" dirty="0"/>
              <a:t>manual</a:t>
            </a:r>
            <a:r>
              <a:rPr lang="en-US" dirty="0"/>
              <a:t>.</a:t>
            </a:r>
          </a:p>
          <a:p>
            <a:r>
              <a:rPr lang="en-US" dirty="0"/>
              <a:t>Inconsistent, delayed and sometime inaccurate Reporting. </a:t>
            </a:r>
          </a:p>
          <a:p>
            <a:r>
              <a:rPr lang="en-US" dirty="0"/>
              <a:t>These </a:t>
            </a:r>
            <a:r>
              <a:rPr lang="en-US" b="1" dirty="0"/>
              <a:t>impact </a:t>
            </a:r>
            <a:r>
              <a:rPr lang="en-US" dirty="0"/>
              <a:t>the business like delayed and time consuming reports and decisions. System performance was inefficient.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38145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8F2FE-FEFF-4BBE-A564-648023935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511DF-0E29-445B-A9B1-D44A563A1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Design and implement an </a:t>
            </a:r>
            <a:r>
              <a:rPr lang="en-US" b="1" dirty="0"/>
              <a:t>end-to-end automated data pipeline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Collect the data from </a:t>
            </a:r>
            <a:r>
              <a:rPr lang="en-US" b="1" dirty="0"/>
              <a:t>heterogenous sources.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Centralize</a:t>
            </a:r>
            <a:r>
              <a:rPr lang="en-US" dirty="0"/>
              <a:t> data into Azure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 </a:t>
            </a:r>
            <a:r>
              <a:rPr lang="en-US" b="1" dirty="0"/>
              <a:t>delta incremental loading.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Schedule</a:t>
            </a:r>
            <a:r>
              <a:rPr lang="en-US" dirty="0"/>
              <a:t> the pipeline.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Deliver business-ready dashboards in </a:t>
            </a:r>
            <a:r>
              <a:rPr lang="en-US" b="1" dirty="0"/>
              <a:t>Power BI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 </a:t>
            </a:r>
            <a:r>
              <a:rPr lang="en-US" b="1" dirty="0"/>
              <a:t>RBAC and RLS.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Star schema  </a:t>
            </a:r>
            <a:r>
              <a:rPr lang="en-US" dirty="0"/>
              <a:t>is used for data </a:t>
            </a:r>
            <a:r>
              <a:rPr lang="en-US" dirty="0" err="1"/>
              <a:t>mdeling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 </a:t>
            </a:r>
            <a:r>
              <a:rPr lang="en-US" b="1" dirty="0"/>
              <a:t>agile delivery </a:t>
            </a:r>
            <a:r>
              <a:rPr lang="en-US" dirty="0"/>
              <a:t>with clear reporting requirements.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Meets the requirement of </a:t>
            </a:r>
            <a:r>
              <a:rPr lang="en-US" b="1" dirty="0"/>
              <a:t>User Acceptance Testing(UAT).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674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F9FAC-4963-47FC-A420-07611B0F2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9382" y="1103773"/>
            <a:ext cx="9601196" cy="1303867"/>
          </a:xfrm>
        </p:spPr>
        <p:txBody>
          <a:bodyPr/>
          <a:lstStyle/>
          <a:p>
            <a:r>
              <a:rPr lang="en-US" b="1" dirty="0"/>
              <a:t>Action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67C51-BF29-4E2C-92B0-11FACF14B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9382" y="2407640"/>
            <a:ext cx="9587215" cy="34682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700" b="1" dirty="0"/>
              <a:t> Data Ingestion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Integrated cloud and on-prem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Stored raw CSV files in Azure Blob Storage</a:t>
            </a:r>
          </a:p>
          <a:p>
            <a:pPr marL="0" indent="0">
              <a:buNone/>
            </a:pPr>
            <a:r>
              <a:rPr lang="en-US" sz="1700" b="1" dirty="0"/>
              <a:t>Data Cleaning &amp; Transformation </a:t>
            </a:r>
          </a:p>
          <a:p>
            <a:r>
              <a:rPr lang="en-US" sz="1700" dirty="0"/>
              <a:t>Using </a:t>
            </a:r>
            <a:r>
              <a:rPr lang="en-US" sz="1700" b="1" dirty="0"/>
              <a:t>Azure Data Factory (Pipeline 1)</a:t>
            </a:r>
            <a:r>
              <a:rPr lang="en-US" sz="17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Extracted data from Blob Storage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Removed nulls and duplicates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Standardized date formats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Validated and cleaned records</a:t>
            </a: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969409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2E11D-CED0-4D8B-B15E-A1F7A52DC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Action  cont.…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28D32-1230-41AA-916C-1E1ACB9F1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9836790" cy="3533475"/>
          </a:xfrm>
        </p:spPr>
        <p:txBody>
          <a:bodyPr>
            <a:normAutofit fontScale="77500" lnSpcReduction="20000"/>
          </a:bodyPr>
          <a:lstStyle/>
          <a:p>
            <a:r>
              <a:rPr lang="en-US" sz="2400" dirty="0"/>
              <a:t>Join and Loaded curated data into Azure SQL Database</a:t>
            </a:r>
          </a:p>
          <a:p>
            <a:r>
              <a:rPr lang="en-US" b="1" dirty="0"/>
              <a:t>In Azure SQL database , create watermark table , staging table  and two stored procedure for merge the updating in source table and update the watermark value.</a:t>
            </a:r>
          </a:p>
          <a:p>
            <a:r>
              <a:rPr lang="en-US" b="1" dirty="0"/>
              <a:t>Implemented watermark value based Incremental delta Load (Pipeline 2)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Used two Lookup activities: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Old watermark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New watermark</a:t>
            </a:r>
          </a:p>
          <a:p>
            <a:pPr marL="457200" lvl="1" indent="0">
              <a:buNone/>
            </a:pPr>
            <a:r>
              <a:rPr lang="en-US" dirty="0"/>
              <a:t>   Then add  IF condition: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If New  watermark value &gt; Old watermark value  → process delta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Truncate the staging table by writing a statement in pre-copy script and copy new and updated records in staging table as a temporary storage.</a:t>
            </a:r>
          </a:p>
          <a:p>
            <a:endParaRPr lang="en-US" sz="2400" b="1" dirty="0"/>
          </a:p>
          <a:p>
            <a:pPr marL="0" indent="0">
              <a:buNone/>
            </a:pP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692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FF0A5-3248-4B45-8A5F-6E2D6194B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06A92-8DDB-4963-B15A-D103442C8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836790" cy="3407640"/>
          </a:xfrm>
        </p:spPr>
        <p:txBody>
          <a:bodyPr>
            <a:normAutofit fontScale="85000" lnSpcReduction="20000"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Then to merge the updated records into source table execute merge stored procedure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Then Executed stored procedure to update watermark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Scheduling</a:t>
            </a:r>
            <a:r>
              <a:rPr lang="en-US" dirty="0"/>
              <a:t> the pipelines for every 24 hours.</a:t>
            </a:r>
          </a:p>
          <a:p>
            <a:r>
              <a:rPr lang="en-US" b="1" dirty="0"/>
              <a:t>Reporting</a:t>
            </a:r>
          </a:p>
          <a:p>
            <a:pPr marL="0" indent="0">
              <a:buNone/>
            </a:pPr>
            <a:r>
              <a:rPr lang="en-US" dirty="0"/>
              <a:t>         For reporting connect the </a:t>
            </a:r>
            <a:r>
              <a:rPr lang="en-US" b="1" dirty="0"/>
              <a:t>Azure SQL Database with Power BI </a:t>
            </a:r>
            <a:r>
              <a:rPr lang="en-US" dirty="0"/>
              <a:t>and design the dashboards by using different KPIs and DAX measures. </a:t>
            </a:r>
          </a:p>
          <a:p>
            <a:r>
              <a:rPr lang="en-US" b="1" dirty="0"/>
              <a:t>Implemented Role-Based Access Control (RBAC) and Row-Level Security (RLS)</a:t>
            </a:r>
            <a:r>
              <a:rPr lang="en-US" dirty="0"/>
              <a:t> to ensure secure data access</a:t>
            </a:r>
          </a:p>
          <a:p>
            <a:r>
              <a:rPr lang="en-US" b="1" dirty="0"/>
              <a:t>Established monitoring and support processes</a:t>
            </a:r>
            <a:r>
              <a:rPr lang="en-US" dirty="0"/>
              <a:t> to maintain pipeline reliability and ongoing performance optimization.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603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A4215-0BFB-4E45-A5A5-2B5D000B8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60117C8-487F-4B0A-8840-71ECA8742E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2" y="2596777"/>
            <a:ext cx="960119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alibri" panose="020F0502020204030204" pitchFamily="34" charset="0"/>
              </a:rPr>
              <a:t>Data ingestion and reporting became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alibri" panose="020F0502020204030204" pitchFamily="34" charset="0"/>
              </a:rPr>
              <a:t>fully automated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alibri" panose="020F0502020204030204" pitchFamily="34" charset="0"/>
              </a:rPr>
              <a:t>Pipeline performance improved reducing load times by up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alibri" panose="020F0502020204030204" pitchFamily="34" charset="0"/>
              </a:rPr>
              <a:t>60–80%.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alibri" panose="020F0502020204030204" pitchFamily="34" charset="0"/>
              </a:rPr>
              <a:t>Centralized Azure data platform provided a single source of truth worthy data,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alibri" panose="020F0502020204030204" pitchFamily="34" charset="0"/>
              </a:rPr>
              <a:t>Power BI dashboards speed up the reporting and decision making process.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alibri" panose="020F0502020204030204" pitchFamily="34" charset="0"/>
              </a:rPr>
              <a:t>Security </a:t>
            </a:r>
            <a:r>
              <a:rPr lang="en-US" altLang="en-US" sz="1800" dirty="0">
                <a:solidFill>
                  <a:schemeClr val="tx1"/>
                </a:solidFill>
                <a:cs typeface="Calibri" panose="020F0502020204030204" pitchFamily="34" charset="0"/>
              </a:rPr>
              <a:t>of data accessed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alibri" panose="020F0502020204030204" pitchFamily="34" charset="0"/>
              </a:rPr>
              <a:t>through RBAC and Row-Level Security implementation.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alibri" panose="020F0502020204030204" pitchFamily="34" charset="0"/>
              </a:rPr>
              <a:t>Successful UAT sign-off from business stakeholders confirmed the solution meets the requirements.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alibri" panose="020F0502020204030204" pitchFamily="34" charset="0"/>
              </a:rPr>
              <a:t>Overall reporting cycle time was reduced, allowing leadership to make more timely and data-driven decisions.</a:t>
            </a:r>
          </a:p>
        </p:txBody>
      </p:sp>
    </p:spTree>
    <p:extLst>
      <p:ext uri="{BB962C8B-B14F-4D97-AF65-F5344CB8AC3E}">
        <p14:creationId xmlns:p14="http://schemas.microsoft.com/office/powerpoint/2010/main" val="860666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6C5DE-E106-4DD4-B60D-1264D76DA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355A8-7421-4B2F-9FA8-034E62412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Heterogenous source system.</a:t>
            </a:r>
          </a:p>
          <a:p>
            <a:r>
              <a:rPr lang="en-US" sz="1800" dirty="0"/>
              <a:t>Bottleneck performances</a:t>
            </a:r>
          </a:p>
          <a:p>
            <a:r>
              <a:rPr lang="en-US" sz="1800" dirty="0"/>
              <a:t>Data Quality issue.</a:t>
            </a:r>
          </a:p>
          <a:p>
            <a:r>
              <a:rPr lang="en-US" sz="1800" dirty="0"/>
              <a:t>Data Security.</a:t>
            </a:r>
          </a:p>
          <a:p>
            <a:r>
              <a:rPr lang="en-US" sz="1800" dirty="0"/>
              <a:t>Multi </a:t>
            </a:r>
            <a:r>
              <a:rPr lang="en-US" sz="1800"/>
              <a:t>regional requirements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227836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71AA8-AEB7-4A73-A11C-FC8FAD20C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Tools and Technologies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940A2-32C1-4DD6-8162-D9291DEF4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Microsoft Azure – Primary cloud platform</a:t>
            </a:r>
          </a:p>
          <a:p>
            <a:r>
              <a:rPr lang="en-US" sz="1600" dirty="0"/>
              <a:t>Azure Data Factory (ADF) – ETL/ELT orchestration</a:t>
            </a:r>
          </a:p>
          <a:p>
            <a:r>
              <a:rPr lang="en-US" sz="1600" dirty="0"/>
              <a:t>Azure Blob Storage – Raw data landing zone</a:t>
            </a:r>
          </a:p>
          <a:p>
            <a:r>
              <a:rPr lang="en-US" sz="1600" dirty="0"/>
              <a:t>Azure SQL Database – Centralized data warehouse</a:t>
            </a:r>
          </a:p>
          <a:p>
            <a:r>
              <a:rPr lang="en-US" sz="1600" dirty="0"/>
              <a:t>Azure Monitor – monitor the performance of storage , pipeline</a:t>
            </a:r>
          </a:p>
          <a:p>
            <a:r>
              <a:rPr lang="en-US" sz="1600" dirty="0"/>
              <a:t>JIRA- defect tracking for UAT</a:t>
            </a:r>
          </a:p>
          <a:p>
            <a:r>
              <a:rPr lang="en-US" sz="1600" dirty="0"/>
              <a:t>Microsoft Power BI – for reporting.</a:t>
            </a:r>
          </a:p>
          <a:p>
            <a:r>
              <a:rPr lang="en-US" sz="1600" dirty="0"/>
              <a:t>SSMS (on prem data)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4818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F419B58-C1E6-4ECB-9D21-F595B77FF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789" y="672427"/>
            <a:ext cx="10444294" cy="549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0342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6033EB-CF79-45FD-A384-C6908FA48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345" y="645952"/>
            <a:ext cx="10335237" cy="557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5768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7AB322-5F9B-43DB-A407-5B4507487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123" y="637563"/>
            <a:ext cx="10360403" cy="5595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109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F90A8E-A7BE-4FAF-8757-869041C30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884" y="654341"/>
            <a:ext cx="10246232" cy="5478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0665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3242</TotalTime>
  <Words>723</Words>
  <Application>Microsoft Office PowerPoint</Application>
  <PresentationFormat>Widescreen</PresentationFormat>
  <Paragraphs>102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Garamond</vt:lpstr>
      <vt:lpstr>Organic</vt:lpstr>
      <vt:lpstr>Med itech HealthCare  Analytics</vt:lpstr>
      <vt:lpstr>About Med itech</vt:lpstr>
      <vt:lpstr>Project Overview</vt:lpstr>
      <vt:lpstr>Project Architecture Overview</vt:lpstr>
      <vt:lpstr>Team Members</vt:lpstr>
      <vt:lpstr>PowerPoint Presentation</vt:lpstr>
      <vt:lpstr>Situation</vt:lpstr>
      <vt:lpstr>Task</vt:lpstr>
      <vt:lpstr>Action </vt:lpstr>
      <vt:lpstr>Action  cont.…</vt:lpstr>
      <vt:lpstr>Action</vt:lpstr>
      <vt:lpstr>Result</vt:lpstr>
      <vt:lpstr>Challenges</vt:lpstr>
      <vt:lpstr>Tools and Technologies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 Analytics</dc:title>
  <dc:creator>Gagan Garcha</dc:creator>
  <cp:lastModifiedBy>Gagan Garcha</cp:lastModifiedBy>
  <cp:revision>53</cp:revision>
  <dcterms:created xsi:type="dcterms:W3CDTF">2026-02-19T20:15:08Z</dcterms:created>
  <dcterms:modified xsi:type="dcterms:W3CDTF">2026-02-27T21:33:00Z</dcterms:modified>
</cp:coreProperties>
</file>